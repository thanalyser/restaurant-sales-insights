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D2D2D"/>
                </a:solidFill>
                <a:latin typeface="Arial"/>
              </a:rPr>
              <a:t>Net Sales by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328-4073-A63B-094F30911F61}"/>
              </c:ext>
            </c:extLst>
          </c:dPt>
          <c:dPt>
            <c:idx val="1"/>
            <c:invertIfNegative val="0"/>
            <c:bubble3D val="0"/>
            <c:spPr>
              <a:solidFill>
                <a:srgbClr val="006D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28-4073-A63B-094F30911F6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D2D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6529857</c:v>
                </c:pt>
                <c:pt idx="1">
                  <c:v>6248506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28-4073-A63B-094F30911F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D2D2D"/>
                </a:solidFill>
                <a:latin typeface="Arial"/>
              </a:rPr>
              <a:t>Weekly Net Sales — 2024 vs 2025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3175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18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  <c:pt idx="5">
                  <c:v>23</c:v>
                </c:pt>
                <c:pt idx="6">
                  <c:v>24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380000</c:v>
                </c:pt>
                <c:pt idx="1">
                  <c:v>680000</c:v>
                </c:pt>
                <c:pt idx="2">
                  <c:v>720000</c:v>
                </c:pt>
                <c:pt idx="3">
                  <c:v>750000</c:v>
                </c:pt>
                <c:pt idx="4">
                  <c:v>700000</c:v>
                </c:pt>
                <c:pt idx="5">
                  <c:v>680000</c:v>
                </c:pt>
                <c:pt idx="6">
                  <c:v>710000</c:v>
                </c:pt>
                <c:pt idx="7">
                  <c:v>690000</c:v>
                </c:pt>
                <c:pt idx="8">
                  <c:v>720000</c:v>
                </c:pt>
                <c:pt idx="9">
                  <c:v>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1B-4AE1-A945-1780EED961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31750" cap="flat">
              <a:solidFill>
                <a:srgbClr val="E971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7132"/>
              </a:solidFill>
              <a:ln w="9525" cap="flat">
                <a:solidFill>
                  <a:srgbClr val="E97132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18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  <c:pt idx="5">
                  <c:v>23</c:v>
                </c:pt>
                <c:pt idx="6">
                  <c:v>24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220000</c:v>
                </c:pt>
                <c:pt idx="1">
                  <c:v>690000</c:v>
                </c:pt>
                <c:pt idx="2">
                  <c:v>680000</c:v>
                </c:pt>
                <c:pt idx="3">
                  <c:v>960000</c:v>
                </c:pt>
                <c:pt idx="4">
                  <c:v>680000</c:v>
                </c:pt>
                <c:pt idx="5">
                  <c:v>640000</c:v>
                </c:pt>
                <c:pt idx="6">
                  <c:v>690000</c:v>
                </c:pt>
                <c:pt idx="7">
                  <c:v>670000</c:v>
                </c:pt>
                <c:pt idx="8">
                  <c:v>760000</c:v>
                </c:pt>
                <c:pt idx="9">
                  <c:v>200000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61B-4AE1-A945-1780EED961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D2D2D"/>
                </a:solidFill>
                <a:latin typeface="Arial"/>
              </a:rPr>
              <a:t>Net Sales by Period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rgbClr val="006D6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2D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P5</c:v>
                </c:pt>
                <c:pt idx="1">
                  <c:v>P6</c:v>
                </c:pt>
                <c:pt idx="2">
                  <c:v>P7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5200000</c:v>
                </c:pt>
                <c:pt idx="1">
                  <c:v>7400000</c:v>
                </c:pt>
                <c:pt idx="2">
                  <c:v>300000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36-4C12-ABE0-E17CAFB4F4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D2D2D"/>
                </a:solidFill>
                <a:latin typeface="Arial"/>
              </a:rPr>
              <a:t>Net Sales by Quarter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693-470C-B69A-917DF53E5767}"/>
              </c:ext>
            </c:extLst>
          </c:dPt>
          <c:dPt>
            <c:idx val="1"/>
            <c:invertIfNegative val="0"/>
            <c:bubble3D val="0"/>
            <c:spPr>
              <a:solidFill>
                <a:srgbClr val="006D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93-470C-B69A-917DF53E576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693-470C-B69A-917DF53E5767}"/>
              </c:ext>
            </c:extLst>
          </c:dPt>
          <c:dPt>
            <c:idx val="3"/>
            <c:invertIfNegative val="0"/>
            <c:bubble3D val="0"/>
            <c:spPr>
              <a:solidFill>
                <a:srgbClr val="006D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693-470C-B69A-917DF53E576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2D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Q2 FY24</c:v>
                </c:pt>
                <c:pt idx="1">
                  <c:v>Q2 FY25</c:v>
                </c:pt>
                <c:pt idx="2">
                  <c:v>Q3 FY24</c:v>
                </c:pt>
                <c:pt idx="3">
                  <c:v>Q3 FY25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6500000</c:v>
                </c:pt>
                <c:pt idx="1">
                  <c:v>6000000</c:v>
                </c:pt>
                <c:pt idx="2">
                  <c:v>200000</c:v>
                </c:pt>
                <c:pt idx="3">
                  <c:v>180000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693-470C-B69A-917DF53E57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D2D2D"/>
                </a:solidFill>
                <a:latin typeface="Arial"/>
              </a:rPr>
              <a:t>Net Sales by Restaurant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rgbClr val="006D6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070-4E65-B455-0280CB40ED7A}"/>
              </c:ext>
            </c:extLst>
          </c:dPt>
          <c:dPt>
            <c:idx val="1"/>
            <c:invertIfNegative val="0"/>
            <c:bubble3D val="0"/>
            <c:spPr>
              <a:solidFill>
                <a:srgbClr val="0099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70-4E65-B455-0280CB40ED7A}"/>
              </c:ext>
            </c:extLst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070-4E65-B455-0280CB40ED7A}"/>
              </c:ext>
            </c:extLst>
          </c:dPt>
          <c:dPt>
            <c:idx val="3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070-4E65-B455-0280CB40ED7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D2D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London</c:v>
                </c:pt>
                <c:pt idx="1">
                  <c:v>Manchester</c:v>
                </c:pt>
                <c:pt idx="2">
                  <c:v>Liverpool</c:v>
                </c:pt>
                <c:pt idx="3">
                  <c:v>Birmingham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4200000</c:v>
                </c:pt>
                <c:pt idx="1">
                  <c:v>3200000</c:v>
                </c:pt>
                <c:pt idx="2">
                  <c:v>2900000</c:v>
                </c:pt>
                <c:pt idx="3">
                  <c:v>2500000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070-4E65-B455-0280CB40ED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D2D2D"/>
                </a:solidFill>
                <a:latin typeface="Arial"/>
              </a:rPr>
              <a:t>Net Sales by Menu Group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rgbClr val="006D6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6BF-40CA-A3F2-A7AF1BC7F081}"/>
              </c:ext>
            </c:extLst>
          </c:dPt>
          <c:dPt>
            <c:idx val="1"/>
            <c:invertIfNegative val="0"/>
            <c:bubble3D val="0"/>
            <c:spPr>
              <a:solidFill>
                <a:srgbClr val="0099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BF-40CA-A3F2-A7AF1BC7F081}"/>
              </c:ext>
            </c:extLst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BF-40CA-A3F2-A7AF1BC7F081}"/>
              </c:ext>
            </c:extLst>
          </c:dPt>
          <c:dPt>
            <c:idx val="3"/>
            <c:invertIfNegative val="0"/>
            <c:bubble3D val="0"/>
            <c:spPr>
              <a:solidFill>
                <a:srgbClr val="F2A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6BF-40CA-A3F2-A7AF1BC7F081}"/>
              </c:ext>
            </c:extLst>
          </c:dPt>
          <c:dPt>
            <c:idx val="4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6BF-40CA-A3F2-A7AF1BC7F081}"/>
              </c:ext>
            </c:extLst>
          </c:dPt>
          <c:dPt>
            <c:idx val="5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6BF-40CA-A3F2-A7AF1BC7F081}"/>
              </c:ext>
            </c:extLst>
          </c:dPt>
          <c:dPt>
            <c:idx val="6"/>
            <c:invertIfNegative val="0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6BF-40CA-A3F2-A7AF1BC7F08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2D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Sides</c:v>
                </c:pt>
                <c:pt idx="1">
                  <c:v>Teppanyaki</c:v>
                </c:pt>
                <c:pt idx="2">
                  <c:v>Curry</c:v>
                </c:pt>
                <c:pt idx="3">
                  <c:v>Ramen</c:v>
                </c:pt>
                <c:pt idx="4">
                  <c:v>Donburi</c:v>
                </c:pt>
                <c:pt idx="5">
                  <c:v>Non-Alc</c:v>
                </c:pt>
                <c:pt idx="6">
                  <c:v>Childrens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2800000</c:v>
                </c:pt>
                <c:pt idx="1">
                  <c:v>2300000</c:v>
                </c:pt>
                <c:pt idx="2">
                  <c:v>2100000</c:v>
                </c:pt>
                <c:pt idx="3">
                  <c:v>1600000</c:v>
                </c:pt>
                <c:pt idx="4">
                  <c:v>800000</c:v>
                </c:pt>
                <c:pt idx="5">
                  <c:v>800000</c:v>
                </c:pt>
                <c:pt idx="6">
                  <c:v>400000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6BF-40CA-A3F2-A7AF1BC7F0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D2D2D"/>
                </a:solidFill>
                <a:latin typeface="Arial"/>
              </a:rPr>
              <a:t>Discount % by Menu Group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5F4-4CB1-9DCC-D41830933BA8}"/>
              </c:ext>
            </c:extLst>
          </c:dPt>
          <c:dPt>
            <c:idx val="1"/>
            <c:invertIfNegative val="0"/>
            <c:bubble3D val="0"/>
            <c:spPr>
              <a:solidFill>
                <a:srgbClr val="E864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5F4-4CB1-9DCC-D41830933BA8}"/>
              </c:ext>
            </c:extLst>
          </c:dPt>
          <c:dPt>
            <c:idx val="2"/>
            <c:invertIfNegative val="0"/>
            <c:bubble3D val="0"/>
            <c:spPr>
              <a:solidFill>
                <a:srgbClr val="E971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5F4-4CB1-9DCC-D41830933BA8}"/>
              </c:ext>
            </c:extLst>
          </c:dPt>
          <c:dPt>
            <c:idx val="3"/>
            <c:invertIfNegative val="0"/>
            <c:bubble3D val="0"/>
            <c:spPr>
              <a:solidFill>
                <a:srgbClr val="F2A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5F4-4CB1-9DCC-D41830933BA8}"/>
              </c:ext>
            </c:extLst>
          </c:dPt>
          <c:dPt>
            <c:idx val="4"/>
            <c:invertIfNegative val="0"/>
            <c:bubble3D val="0"/>
            <c:spPr>
              <a:solidFill>
                <a:srgbClr val="F2A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5F4-4CB1-9DCC-D41830933BA8}"/>
              </c:ext>
            </c:extLst>
          </c:dPt>
          <c:dPt>
            <c:idx val="5"/>
            <c:invertIfNegative val="0"/>
            <c:bubble3D val="0"/>
            <c:spPr>
              <a:solidFill>
                <a:srgbClr val="006D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5F4-4CB1-9DCC-D41830933BA8}"/>
              </c:ext>
            </c:extLst>
          </c:dPt>
          <c:dPt>
            <c:idx val="6"/>
            <c:invertIfNegative val="0"/>
            <c:bubble3D val="0"/>
            <c:spPr>
              <a:solidFill>
                <a:srgbClr val="006D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5F4-4CB1-9DCC-D41830933BA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2D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Omakase</c:v>
                </c:pt>
                <c:pt idx="1">
                  <c:v>Other Extras</c:v>
                </c:pt>
                <c:pt idx="2">
                  <c:v>Non-Alc</c:v>
                </c:pt>
                <c:pt idx="3">
                  <c:v>Hot Bev</c:v>
                </c:pt>
                <c:pt idx="4">
                  <c:v>Desserts</c:v>
                </c:pt>
                <c:pt idx="5">
                  <c:v>Sides</c:v>
                </c:pt>
                <c:pt idx="6">
                  <c:v>Kokoro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74.92</c:v>
                </c:pt>
                <c:pt idx="1">
                  <c:v>45.74</c:v>
                </c:pt>
                <c:pt idx="2">
                  <c:v>16.059999999999999</c:v>
                </c:pt>
                <c:pt idx="3">
                  <c:v>13.8</c:v>
                </c:pt>
                <c:pt idx="4">
                  <c:v>13.01</c:v>
                </c:pt>
                <c:pt idx="5">
                  <c:v>7.1</c:v>
                </c:pt>
                <c:pt idx="6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5F4-4CB1-9DCC-D41830933B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611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6D6D">
              <a:alpha val="15000"/>
            </a:srgbClr>
          </a:solidFill>
          <a:ln w="12700">
            <a:solidFill>
              <a:srgbClr val="006D6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2A900">
              <a:alpha val="20000"/>
            </a:srgbClr>
          </a:solidFill>
          <a:ln w="12700">
            <a:solidFill>
              <a:srgbClr val="F2A90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SUBMISSION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Sales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data-driven examination of sales trends, site performance,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menu insights across May 2024 – July 2025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2286000" cy="36576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Raja Hanzala Muavia</a:t>
            </a: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Data Analyst   |   linkedin.com/in/hanzalaraja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to: Dolphin Insights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3200400"/>
            <a:ext cx="1737360" cy="658368"/>
          </a:xfrm>
          <a:prstGeom prst="rect">
            <a:avLst/>
          </a:prstGeom>
          <a:solidFill>
            <a:srgbClr val="006D6D">
              <a:alpha val="15000"/>
            </a:srgbClr>
          </a:solidFill>
          <a:ln w="12700">
            <a:solidFill>
              <a:srgbClr val="006D6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0" y="32186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$12.78M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3547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78040" y="3200400"/>
            <a:ext cx="1737360" cy="658368"/>
          </a:xfrm>
          <a:prstGeom prst="rect">
            <a:avLst/>
          </a:prstGeom>
          <a:solidFill>
            <a:srgbClr val="006D6D">
              <a:alpha val="15000"/>
            </a:srgbClr>
          </a:solidFill>
          <a:ln w="12700">
            <a:solidFill>
              <a:srgbClr val="006D6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78040" y="32186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123K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78040" y="3547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0" y="3977640"/>
            <a:ext cx="1737360" cy="658368"/>
          </a:xfrm>
          <a:prstGeom prst="rect">
            <a:avLst/>
          </a:prstGeom>
          <a:solidFill>
            <a:srgbClr val="006D6D">
              <a:alpha val="15000"/>
            </a:srgbClr>
          </a:solidFill>
          <a:ln w="12700">
            <a:solidFill>
              <a:srgbClr val="006D6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0" y="3995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Sites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4325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78040" y="3977640"/>
            <a:ext cx="1737360" cy="658368"/>
          </a:xfrm>
          <a:prstGeom prst="rect">
            <a:avLst/>
          </a:prstGeom>
          <a:solidFill>
            <a:srgbClr val="006D6D">
              <a:alpha val="15000"/>
            </a:srgbClr>
          </a:solidFill>
          <a:ln w="12700">
            <a:solidFill>
              <a:srgbClr val="006D6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78040" y="3995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-4.31%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43251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Change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APPROACH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02920" cy="1645920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170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Loaded 2 years of transactional data (2024 and 2025 sheets) alongside menu, site, and financial calendar reference tables from the provided Excel file.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502920" cy="1645920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3337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 star schema in Power BI — appending 2024 and 2025 into a single Sales fact table (774K rows) with 3 dimension tables. Resolved data type mismatches and duplicate rows before modelling.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1005840"/>
            <a:ext cx="502920" cy="1645920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1508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1170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 &amp; Profiling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15087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Profiled all columns for nulls, blanks, and zero values. Removed 1 blank row and 15 zero-quantity rows. Documented 296K zero-net rows as valid fully-discounted transactions.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2834640"/>
            <a:ext cx="502920" cy="1645920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3337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Measures &amp;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337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 8 core DAX measures. Analysed performance across 4 dimensions — time trends (financial calendar), site performance, menu revenue, and discount patterns.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Used: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17320" y="46634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E6F4F4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417320" y="4663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Power BI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26080" y="46634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E6F4F4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26080" y="4663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34840" y="46634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E6F4F4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34840" y="4663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Query (M)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43600" y="46634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E6F4F4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0" y="4663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Calendar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452360" y="466344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E6F4F4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52360" y="4663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 Schema Modelling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D2D"/>
          </a:solidFill>
          <a:ln w="12700">
            <a:solidFill>
              <a:srgbClr val="1E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 OBSERVATIONS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Profiled before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64008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774,077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Rows After Cleaning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0592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50592" y="1536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Blank Row Removed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9601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26864" y="960120"/>
            <a:ext cx="201168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26864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7E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26864" y="1536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Qty Rows Removed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03136" y="9601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03136" y="960120"/>
            <a:ext cx="201168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03136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296K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03136" y="1536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Net Rows (Retained)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10312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2212848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2128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80160" y="21945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Blank Row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24871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Columns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completely empty row was identified across all columns — likely an empty trailing row from the Excel source file. Removed in Power Query using Remove Blank Rows.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218688"/>
            <a:ext cx="3931920" cy="164592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2186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Action: Removed via Power Query → Remove Blank Rows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56616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3675888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6758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REMOVED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280160" y="3657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Zero Quantity Rows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39502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qty = 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4160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rows recorded a transaction with zero quantity — no items served. These are likely data entry errors where a transaction was opened but no items were added.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4681728"/>
            <a:ext cx="3931920" cy="164592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6817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Action: Removed via Power Query → Number Filter → Greater Than 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210312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92040" y="2212848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22128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RETAINED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760720" y="21945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296,383 Zero Net Rows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92040" y="24871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= 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92040" y="2697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rows have gross value but net = 0 due to 100% discount applied (gross + discount = 0). These represent valid business events — staff meals, complimentary items, or promotional giveaways.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92040" y="3218688"/>
            <a:ext cx="3931920" cy="164592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37760" y="32186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Action: Retained as valid business transactions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566160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892040" y="3675888"/>
            <a:ext cx="777240" cy="228600"/>
          </a:xfrm>
          <a:prstGeom prst="roundRect">
            <a:avLst>
              <a:gd name="adj" fmla="val 16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92040" y="36758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RETAINED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760720" y="3657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720,939 Zero Discount Rows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92040" y="39502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= 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92040" y="4160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majority of transactions had no discount applied — customers paid full price. This is completely normal and expected in any restaurant dataset.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92040" y="4681728"/>
            <a:ext cx="3931920" cy="164592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37760" y="46817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Action: Retained — no discount is normal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D2D"/>
          </a:solidFill>
          <a:ln w="12700">
            <a:solidFill>
              <a:srgbClr val="1E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 2024 – July 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011680" cy="73152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$12.78M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Net Sales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all 4 restaurants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50592" y="960120"/>
            <a:ext cx="2011680" cy="731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0592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123K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50592" y="1719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customer visits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960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960120"/>
            <a:ext cx="2011680" cy="7315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6.21%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26864" y="1719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Discount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gross sales discounted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960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03136" y="960120"/>
            <a:ext cx="20116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03136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-4.31%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03136" y="1719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Growth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vs 2024 decline</a:t>
            </a:r>
            <a:endParaRPr lang="en-US" sz="8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251460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4754880" y="251460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92040" y="2633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892040" y="29718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sales declined $281K (-4.31%) from 2024 to 2025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4 restaurants experienced negative YoY growth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 6 was the strongest financial period at $7.4M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296K zero-net rows identified — complimentary or staff items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Omakase group carries a 74.92% discount — margin risk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covers 14 months: May 2024 to July 2025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TRENDS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EE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Calendar — Week / Period / Quarter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566928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217920" y="914400"/>
          <a:ext cx="26517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274320" y="3520440"/>
          <a:ext cx="566928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6217920" y="3520440"/>
            <a:ext cx="2651760" cy="1417320"/>
          </a:xfrm>
          <a:prstGeom prst="rect">
            <a:avLst/>
          </a:prstGeom>
          <a:solidFill>
            <a:srgbClr val="E6F4F4"/>
          </a:solidFill>
          <a:ln w="12700">
            <a:solidFill>
              <a:srgbClr val="006D6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635508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Insights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355080" y="3931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 6 drives 58% of total sales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21: 2025 surpassed 2024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FY24 vs Q2 FY25: -7.7% decline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P7 &amp; Q3 are partial periods only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D2D"/>
          </a:solidFill>
          <a:ln w="12700">
            <a:solidFill>
              <a:srgbClr val="1E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PERFORMANCE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914400"/>
          <a:ext cx="3474720" cy="2011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Restaurant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2024 Sales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2025 Sales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YoY 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London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$2,147,641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$2,072,185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-3.51%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Manchester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$1,624,233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$1,558,141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-4.07%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Liverpool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$1,490,354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$1,431,917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-3.92%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Birmingham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$1,267,631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$1,186,263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-6.42%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8404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3840480"/>
            <a:ext cx="2743200" cy="64008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11480" y="3931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Site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4206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London leads with $4.2M total net sales — 33% of group revenue.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00400" y="38404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200400" y="3840480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337560" y="3931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at Risk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37560" y="4206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Birmingham declined -6.42% YoY — the steepest fall across all sites.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38404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26480" y="3840480"/>
            <a:ext cx="2743200" cy="64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263640" y="3931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263640" y="4206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4 restaurants declined, pointing to a systemic group-wide issue.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43891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846320" y="914400"/>
          <a:ext cx="40233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65760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65760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2296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Selling Item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4114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Creamy Mushroom Curry — $811K revenue, 22,339 qty sold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00400" y="365760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291840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74904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Margin Alert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91840" y="4114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Omakase carries 74.92% discount — major profitability risk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365760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0" y="3749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67512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Surprise Finding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217920" y="4114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Sides ($2.8M) outperforms all mains groups in total revenue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7160" y="640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CONCLUSIONS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" y="2286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EE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Based on sales data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EE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 2024 – July 2025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-4.31%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33832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E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Decline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" y="3657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74.92%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" y="39319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E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Discount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" y="4206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$811K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" y="44805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E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Item Sales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868680"/>
            <a:ext cx="5486400" cy="749808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0440" y="10058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941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Birmingham Urgently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12161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2">
                    <a:lumMod val="2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-6.42% YoY, Birmingham has the steepest decline. Conduct a site-level operational review to identify root causes — staffing, footfall, local competition, or pricing.</a:t>
            </a:r>
            <a:endParaRPr 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383280" y="1709928"/>
            <a:ext cx="5486400" cy="749808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0440" y="1847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Review Omakase Discount Strategy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77640" y="20574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2">
                    <a:lumMod val="2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74.92% discount rate on Omakase is unsustainable and is significantly eroding margin. Introduce a discount cap policy and evaluate whether heavy discounting is driving volume.</a:t>
            </a:r>
            <a:endParaRPr 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383280" y="2551176"/>
            <a:ext cx="5486400" cy="749808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20440" y="26883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77640" y="2624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Replicate London's Success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77640" y="2898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2">
                    <a:lumMod val="2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London showed the most resilience at -3.51% and leads revenue at $4.2M. Analyse its operational practices, menu mix, and marketing approach to replicate across underperforming sites.</a:t>
            </a:r>
            <a:endParaRPr 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83280" y="3392424"/>
            <a:ext cx="5486400" cy="749808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20440" y="35295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77640" y="34655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Capitalise on Sides &amp; Curry Demand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77640" y="373989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2">
                    <a:lumMod val="2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Sides ($2.8M) and Curry ($2.1M) are top revenue drivers. Focus promotions and menu placement on these high-performing groups to maximise revenue per visit.</a:t>
            </a:r>
            <a:endParaRPr 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383280" y="4233672"/>
            <a:ext cx="5486400" cy="749808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20440" y="43708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77640" y="43068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Segoe UI" pitchFamily="34" charset="0"/>
                <a:ea typeface="Segoe UI" pitchFamily="34" charset="-122"/>
                <a:cs typeface="Segoe UI" pitchFamily="34" charset="-120"/>
              </a:rPr>
              <a:t>Conduct Full-Year 2025 Review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77640" y="45811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2">
                    <a:lumMod val="2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2025 data only covers May to July. A full-year dataset is required to draw conclusive YoY comparisons and validate whether the decline is structural or seasonal.</a:t>
            </a:r>
            <a:endParaRPr 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06D6D">
              <a:alpha val="12000"/>
            </a:srgbClr>
          </a:solidFill>
          <a:ln w="12700">
            <a:solidFill>
              <a:srgbClr val="006D6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reviewing this assessment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006D6D"/>
          </a:solidFill>
          <a:ln w="12700">
            <a:solidFill>
              <a:srgbClr val="00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3063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Name:  </a:t>
            </a:r>
            <a:r>
              <a:rPr lang="en-US" sz="12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Raja Hanzala Muavia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3410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LinkedIn:  </a:t>
            </a:r>
            <a:r>
              <a:rPr lang="en-US" sz="12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linkedin.com/in/hanzalaraja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37581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 </a:t>
            </a:r>
            <a:r>
              <a:rPr lang="en-US" sz="12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github.com/ThAnalyser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41056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 </a:t>
            </a:r>
            <a:r>
              <a:rPr lang="en-US" sz="12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Graduate Data Analyst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 ·  DAX  ·  Power Query  ·  Star Schema  ·  Financial Calendar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1002</Words>
  <Application>Microsoft Office PowerPoint</Application>
  <PresentationFormat>On-screen Show (16:9)</PresentationFormat>
  <Paragraphs>177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Dolphin Insights - Restaurant Sales Analysis v2</dc:title>
  <dc:subject>PptxGenJS Presentation</dc:subject>
  <dc:creator>Raja Hanzala Muavia</dc:creator>
  <cp:lastModifiedBy>Hanzala Raja</cp:lastModifiedBy>
  <cp:revision>2</cp:revision>
  <dcterms:created xsi:type="dcterms:W3CDTF">2026-05-02T05:47:50Z</dcterms:created>
  <dcterms:modified xsi:type="dcterms:W3CDTF">2026-05-02T06:06:41Z</dcterms:modified>
</cp:coreProperties>
</file>